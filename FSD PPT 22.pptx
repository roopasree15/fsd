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0" r:id="rId2"/>
    <p:sldId id="261" r:id="rId3"/>
    <p:sldId id="262" r:id="rId4"/>
    <p:sldId id="263" r:id="rId5"/>
    <p:sldId id="264" r:id="rId6"/>
    <p:sldId id="258" r:id="rId7"/>
    <p:sldId id="265" r:id="rId8"/>
    <p:sldId id="266" r:id="rId9"/>
    <p:sldId id="267" r:id="rId10"/>
    <p:sldId id="268" r:id="rId11"/>
    <p:sldId id="275" r:id="rId12"/>
    <p:sldId id="286" r:id="rId13"/>
    <p:sldId id="269" r:id="rId14"/>
    <p:sldId id="276" r:id="rId15"/>
    <p:sldId id="279" r:id="rId16"/>
    <p:sldId id="280" r:id="rId17"/>
    <p:sldId id="273" r:id="rId18"/>
    <p:sldId id="284"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660"/>
  </p:normalViewPr>
  <p:slideViewPr>
    <p:cSldViewPr>
      <p:cViewPr varScale="1">
        <p:scale>
          <a:sx n="78" d="100"/>
          <a:sy n="78" d="100"/>
        </p:scale>
        <p:origin x="1858"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77EDAB-2C93-4504-AFBE-C65F4449F2DB}" type="datetimeFigureOut">
              <a:rPr lang="en-US" smtClean="0"/>
              <a:t>5/6/2026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F3688A-769B-4E2D-9E5E-D5B365F093E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F3688A-769B-4E2D-9E5E-D5B365F093E2}" type="slidenum">
              <a:rPr lang="en-US" smtClean="0"/>
              <a:t>1</a:t>
            </a:fld>
            <a:endParaRPr lang="en-US"/>
          </a:p>
        </p:txBody>
      </p:sp>
    </p:spTree>
    <p:extLst>
      <p:ext uri="{BB962C8B-B14F-4D97-AF65-F5344CB8AC3E}">
        <p14:creationId xmlns:p14="http://schemas.microsoft.com/office/powerpoint/2010/main" val="3764457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90" name="Rectangle 6"/>
          <p:cNvSpPr>
            <a:spLocks noGrp="1" noChangeArrowheads="1"/>
          </p:cNvSpPr>
          <p:nvPr>
            <p:ph type="sldNum" sz="quarter"/>
          </p:nvPr>
        </p:nvSpPr>
        <p:spPr>
          <a:noFill/>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6</a:t>
            </a:fld>
            <a:endParaRPr lang="en-US" altLang="en-US">
              <a:solidFill>
                <a:srgbClr val="000000"/>
              </a:solidFill>
              <a:latin typeface="Times New Roman" panose="02020603050405020304" pitchFamily="18" charset="0"/>
              <a:cs typeface="DejaVu Sans" charset="0"/>
            </a:endParaRPr>
          </a:p>
        </p:txBody>
      </p:sp>
      <p:sp>
        <p:nvSpPr>
          <p:cNvPr id="1048591" name="Rectangle 1"/>
          <p:cNvSpPr>
            <a:spLocks noGrp="1" noRot="1" noChangeAspect="1" noChangeArrowheads="1" noTextEdit="1"/>
          </p:cNvSpPr>
          <p:nvPr>
            <p:ph type="sldImg"/>
          </p:nvPr>
        </p:nvSpPr>
        <p:spPr>
          <a:xfrm>
            <a:off x="1370013" y="763588"/>
            <a:ext cx="5030787" cy="3771900"/>
          </a:xfrm>
          <a:solidFill>
            <a:srgbClr val="FFFFFF"/>
          </a:solidFill>
          <a:ln>
            <a:solidFill>
              <a:srgbClr val="000000"/>
            </a:solidFill>
            <a:miter lim="800000"/>
          </a:ln>
        </p:spPr>
        <p:txBody>
          <a:bodyPr/>
          <a:lstStyle/>
          <a:p>
            <a:endParaRPr lang="en-US"/>
          </a:p>
        </p:txBody>
      </p:sp>
      <p:sp>
        <p:nvSpPr>
          <p:cNvPr id="1048592" name="Rectangle 2"/>
          <p:cNvSpPr>
            <a:spLocks noGrp="1" noChangeArrowheads="1"/>
          </p:cNvSpPr>
          <p:nvPr>
            <p:ph type="body" idx="1"/>
          </p:nvPr>
        </p:nvSpPr>
        <p:spPr>
          <a:xfrm>
            <a:off x="777875" y="4776788"/>
            <a:ext cx="6218238" cy="4525962"/>
          </a:xfrm>
          <a:noFill/>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F3688A-769B-4E2D-9E5E-D5B365F093E2}" type="slidenum">
              <a:rPr lang="en-US" smtClean="0"/>
              <a:t>10</a:t>
            </a:fld>
            <a:endParaRPr lang="en-US"/>
          </a:p>
        </p:txBody>
      </p:sp>
    </p:spTree>
    <p:extLst>
      <p:ext uri="{BB962C8B-B14F-4D97-AF65-F5344CB8AC3E}">
        <p14:creationId xmlns:p14="http://schemas.microsoft.com/office/powerpoint/2010/main" val="3890925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D0E45BE-895A-4628-8F47-43431D2E1AFD}"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0E45BE-895A-4628-8F47-43431D2E1AFD}"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0E45BE-895A-4628-8F47-43431D2E1AFD}"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0E45BE-895A-4628-8F47-43431D2E1AFD}"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0E45BE-895A-4628-8F47-43431D2E1AFD}"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0E45BE-895A-4628-8F47-43431D2E1AFD}"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0E45BE-895A-4628-8F47-43431D2E1AFD}"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0E45BE-895A-4628-8F47-43431D2E1AFD}"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0E45BE-895A-4628-8F47-43431D2E1AFD}"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0E45BE-895A-4628-8F47-43431D2E1AFD}"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0E45BE-895A-4628-8F47-43431D2E1AFD}"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AD9B3-6608-4C78-8E56-BE637563D8D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1048581" name="Title 1"/>
          <p:cNvSpPr>
            <a:spLocks noGrp="1"/>
          </p:cNvSpPr>
          <p:nvPr>
            <p:ph type="title"/>
          </p:nvPr>
        </p:nvSpPr>
        <p:spPr>
          <a:xfrm>
            <a:off x="685801" y="2130425"/>
            <a:ext cx="7770813" cy="1468438"/>
          </a:xfrm>
        </p:spPr>
        <p:txBody>
          <a:bodyPr/>
          <a:lstStyle/>
          <a:p>
            <a:r>
              <a:rPr lang="en-US"/>
              <a:t>Click to edit Master title style</a:t>
            </a:r>
          </a:p>
        </p:txBody>
      </p:sp>
      <p:sp>
        <p:nvSpPr>
          <p:cNvPr id="1048582" name="Rectangle 2"/>
          <p:cNvSpPr>
            <a:spLocks noGrp="1" noChangeArrowheads="1"/>
          </p:cNvSpPr>
          <p:nvPr>
            <p:ph type="dt" idx="10"/>
          </p:nvPr>
        </p:nvSpPr>
        <p:spPr/>
        <p:txBody>
          <a:bodyPr/>
          <a:lstStyle/>
          <a:p>
            <a:fld id="{010118B2-72C7-48F4-B6C5-9B169F0411AF}" type="datetime1">
              <a:rPr lang="en-IN" smtClean="0"/>
              <a:pPr/>
              <a:t>06-05-2026</a:t>
            </a:fld>
            <a:endParaRPr lang="en-US"/>
          </a:p>
        </p:txBody>
      </p:sp>
      <p:sp>
        <p:nvSpPr>
          <p:cNvPr id="1048583" name="Rectangle 4"/>
          <p:cNvSpPr>
            <a:spLocks noGrp="1" noChangeArrowheads="1"/>
          </p:cNvSpPr>
          <p:nvPr>
            <p:ph type="sldNum" idx="11"/>
          </p:nvPr>
        </p:nvSpPr>
        <p:spPr/>
        <p:txBody>
          <a:bodyPr/>
          <a:lstStyle/>
          <a:p>
            <a:fld id="{B0B1F0C1-FE4D-47C4-BFD4-577E77A4BE46}"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0E45BE-895A-4628-8F47-43431D2E1AFD}"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4AD9B3-6608-4C78-8E56-BE637563D8D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C9E2-2069-5FDD-3A99-EFEF79FD78B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A6A5D034-E55C-F9AA-045D-0175D730033C}"/>
              </a:ext>
            </a:extLst>
          </p:cNvPr>
          <p:cNvSpPr>
            <a:spLocks noGrp="1"/>
          </p:cNvSpPr>
          <p:nvPr>
            <p:ph idx="1"/>
          </p:nvPr>
        </p:nvSpPr>
        <p:spPr>
          <a:xfrm>
            <a:off x="609600" y="4038600"/>
            <a:ext cx="8229600" cy="4525963"/>
          </a:xfrm>
        </p:spPr>
        <p:txBody>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6883D2C-A4F5-8C1B-A9D6-DEBE268FBE38}"/>
              </a:ext>
            </a:extLst>
          </p:cNvPr>
          <p:cNvSpPr>
            <a:spLocks noChangeArrowheads="1"/>
          </p:cNvSpPr>
          <p:nvPr/>
        </p:nvSpPr>
        <p:spPr bwMode="auto">
          <a:xfrm>
            <a:off x="457200" y="336193"/>
            <a:ext cx="8153400" cy="5350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000" dirty="0">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develop a user-friendly web platform that empowers citizens to report urban infrastructure issues easily, effectively bridging the gap between residents and local government.</a:t>
            </a: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By designing and developing a secure, web-based Civic Issue Reporting System, the project allows citizens to submit reports efficiently while providing authorities with a professional environment to track and resolve these issues in a highly organized way. </a:t>
            </a:r>
          </a:p>
        </p:txBody>
      </p:sp>
    </p:spTree>
    <p:extLst>
      <p:ext uri="{BB962C8B-B14F-4D97-AF65-F5344CB8AC3E}">
        <p14:creationId xmlns:p14="http://schemas.microsoft.com/office/powerpoint/2010/main" val="1586096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6FCE-36FE-5B0A-A0C5-6FC730B9EE22}"/>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56F9CE5F-C509-8047-9ECD-E8C6C8B9F231}"/>
              </a:ext>
            </a:extLst>
          </p:cNvPr>
          <p:cNvSpPr>
            <a:spLocks noGrp="1"/>
          </p:cNvSpPr>
          <p:nvPr>
            <p:ph idx="1"/>
          </p:nvPr>
        </p:nvSpPr>
        <p:spPr>
          <a:xfrm>
            <a:off x="457200" y="1143000"/>
            <a:ext cx="8229600" cy="4876800"/>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In the field of digital governance and smart city development, efficient management of public grievances plays a crucial role in improving urban infrastructure and citizen satisfaction. The system enables citizens to digitally submit complaints related to public infrastructure problems such as  broken street lights, water leakage, garbage accumulation, and other municipal concerns. </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778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8474-520D-66FF-86F8-97DF63E1813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LANGUAGE USE &amp; FRAMEWORK</a:t>
            </a:r>
          </a:p>
        </p:txBody>
      </p:sp>
      <p:sp>
        <p:nvSpPr>
          <p:cNvPr id="3" name="Content Placeholder 2">
            <a:extLst>
              <a:ext uri="{FF2B5EF4-FFF2-40B4-BE49-F238E27FC236}">
                <a16:creationId xmlns:a16="http://schemas.microsoft.com/office/drawing/2014/main" id="{C37DF6D6-5645-272A-2CD4-CC6EE3D17DF6}"/>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Stack used : MERN</a:t>
            </a:r>
          </a:p>
          <a:p>
            <a:r>
              <a:rPr lang="en-US" sz="2800" dirty="0">
                <a:latin typeface="Times New Roman" panose="02020603050405020304" pitchFamily="18" charset="0"/>
                <a:cs typeface="Times New Roman" panose="02020603050405020304" pitchFamily="18" charset="0"/>
              </a:rPr>
              <a:t>Frontend : React, HTML , JavaScript, Tailwind CSS</a:t>
            </a:r>
          </a:p>
          <a:p>
            <a:r>
              <a:rPr lang="en-US" sz="2800" dirty="0">
                <a:latin typeface="Times New Roman" panose="02020603050405020304" pitchFamily="18" charset="0"/>
                <a:cs typeface="Times New Roman" panose="02020603050405020304" pitchFamily="18" charset="0"/>
              </a:rPr>
              <a:t>Backend : Node.js, Express.js, MongoDB</a:t>
            </a:r>
          </a:p>
          <a:p>
            <a:r>
              <a:rPr lang="en-US" sz="2800" dirty="0">
                <a:latin typeface="Times New Roman" panose="02020603050405020304" pitchFamily="18" charset="0"/>
                <a:cs typeface="Times New Roman" panose="02020603050405020304" pitchFamily="18" charset="0"/>
              </a:rPr>
              <a:t>Security : JWT Authentication</a:t>
            </a:r>
          </a:p>
        </p:txBody>
      </p:sp>
    </p:spTree>
    <p:extLst>
      <p:ext uri="{BB962C8B-B14F-4D97-AF65-F5344CB8AC3E}">
        <p14:creationId xmlns:p14="http://schemas.microsoft.com/office/powerpoint/2010/main" val="2482074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86DD-1F84-DF61-181C-2438D57ECACA}"/>
              </a:ext>
            </a:extLst>
          </p:cNvPr>
          <p:cNvSpPr>
            <a:spLocks noGrp="1"/>
          </p:cNvSpPr>
          <p:nvPr>
            <p:ph type="title"/>
          </p:nvPr>
        </p:nvSpPr>
        <p:spPr>
          <a:xfrm>
            <a:off x="457200" y="274638"/>
            <a:ext cx="8229600" cy="45719"/>
          </a:xfrm>
        </p:spPr>
        <p:txBody>
          <a:bodyPr>
            <a:normAutofit fontScale="90000"/>
          </a:bodyPr>
          <a:lstStyle/>
          <a:p>
            <a:r>
              <a:rPr lang="en-US" sz="3600" dirty="0">
                <a:latin typeface="Times New Roman" panose="02020603050405020304" pitchFamily="18" charset="0"/>
                <a:cs typeface="Times New Roman" panose="02020603050405020304" pitchFamily="18" charset="0"/>
              </a:rPr>
              <a:t>SYSTEM ARCHITECTURE</a:t>
            </a:r>
          </a:p>
        </p:txBody>
      </p:sp>
      <p:pic>
        <p:nvPicPr>
          <p:cNvPr id="6" name="Content Placeholder 5">
            <a:extLst>
              <a:ext uri="{FF2B5EF4-FFF2-40B4-BE49-F238E27FC236}">
                <a16:creationId xmlns:a16="http://schemas.microsoft.com/office/drawing/2014/main" id="{BD81919D-8625-90CD-4F91-BEC00E154A8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4800" y="929638"/>
            <a:ext cx="8544231" cy="5730242"/>
          </a:xfrm>
          <a:prstGeom prst="rect">
            <a:avLst/>
          </a:prstGeom>
        </p:spPr>
      </p:pic>
    </p:spTree>
    <p:extLst>
      <p:ext uri="{BB962C8B-B14F-4D97-AF65-F5344CB8AC3E}">
        <p14:creationId xmlns:p14="http://schemas.microsoft.com/office/powerpoint/2010/main" val="399200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41F-E00A-5A33-CAFE-BA33FEB00C2C}"/>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MODULES DESCRIPTION</a:t>
            </a:r>
          </a:p>
        </p:txBody>
      </p:sp>
      <p:sp>
        <p:nvSpPr>
          <p:cNvPr id="3" name="Content Placeholder 2">
            <a:extLst>
              <a:ext uri="{FF2B5EF4-FFF2-40B4-BE49-F238E27FC236}">
                <a16:creationId xmlns:a16="http://schemas.microsoft.com/office/drawing/2014/main" id="{646FF9E2-1D27-D351-F950-E452F8D95CA6}"/>
              </a:ext>
            </a:extLst>
          </p:cNvPr>
          <p:cNvSpPr>
            <a:spLocks noGrp="1"/>
          </p:cNvSpPr>
          <p:nvPr>
            <p:ph idx="1"/>
          </p:nvPr>
        </p:nvSpPr>
        <p:spPr/>
        <p:txBody>
          <a:bodyPr>
            <a:normAutofit/>
          </a:bodyPr>
          <a:lstStyle/>
          <a:p>
            <a:pPr marL="0" indent="0" algn="just">
              <a:buNone/>
            </a:pPr>
            <a:r>
              <a:rPr lang="en-US" sz="2800" b="1" dirty="0">
                <a:latin typeface="Times New Roman" panose="02020603050405020304" pitchFamily="18" charset="0"/>
                <a:cs typeface="Times New Roman" panose="02020603050405020304" pitchFamily="18" charset="0"/>
              </a:rPr>
              <a:t>1. Authentication &amp; Security Module</a:t>
            </a:r>
          </a:p>
          <a:p>
            <a:pPr algn="just"/>
            <a:r>
              <a:rPr lang="en-US" sz="2800" b="1" dirty="0">
                <a:latin typeface="Times New Roman" panose="02020603050405020304" pitchFamily="18" charset="0"/>
                <a:cs typeface="Times New Roman" panose="02020603050405020304" pitchFamily="18" charset="0"/>
              </a:rPr>
              <a:t>Purpose:</a:t>
            </a:r>
            <a:r>
              <a:rPr lang="en-US" sz="2800" dirty="0">
                <a:latin typeface="Times New Roman" panose="02020603050405020304" pitchFamily="18" charset="0"/>
                <a:cs typeface="Times New Roman" panose="02020603050405020304" pitchFamily="18" charset="0"/>
              </a:rPr>
              <a:t> Manages user access and protects sensitive administrative routes. </a:t>
            </a:r>
          </a:p>
          <a:p>
            <a:pPr algn="just"/>
            <a:r>
              <a:rPr lang="en-US" sz="2800" b="1" dirty="0">
                <a:latin typeface="Times New Roman" panose="02020603050405020304" pitchFamily="18" charset="0"/>
                <a:cs typeface="Times New Roman" panose="02020603050405020304" pitchFamily="18" charset="0"/>
              </a:rPr>
              <a:t>Key File:</a:t>
            </a:r>
            <a:r>
              <a:rPr lang="en-US" sz="2800" dirty="0">
                <a:latin typeface="Times New Roman" panose="02020603050405020304" pitchFamily="18" charset="0"/>
                <a:cs typeface="Times New Roman" panose="02020603050405020304" pitchFamily="18" charset="0"/>
              </a:rPr>
              <a:t> middleware/auth.js. </a:t>
            </a:r>
          </a:p>
          <a:p>
            <a:pPr algn="just"/>
            <a:r>
              <a:rPr lang="en-US" sz="2800" b="1" dirty="0">
                <a:latin typeface="Times New Roman" panose="02020603050405020304" pitchFamily="18" charset="0"/>
                <a:cs typeface="Times New Roman" panose="02020603050405020304" pitchFamily="18" charset="0"/>
              </a:rPr>
              <a:t>Functionality:</a:t>
            </a:r>
            <a:r>
              <a:rPr lang="en-US" sz="2800" dirty="0">
                <a:latin typeface="Times New Roman" panose="02020603050405020304" pitchFamily="18" charset="0"/>
                <a:cs typeface="Times New Roman" panose="02020603050405020304" pitchFamily="18" charset="0"/>
              </a:rPr>
              <a:t> This module validates user credentials and manages session states or tokens to ensure that only authorized citizens or officials can modify report statuses. </a:t>
            </a:r>
          </a:p>
          <a:p>
            <a:endParaRPr lang="en-US" dirty="0"/>
          </a:p>
        </p:txBody>
      </p:sp>
    </p:spTree>
    <p:extLst>
      <p:ext uri="{BB962C8B-B14F-4D97-AF65-F5344CB8AC3E}">
        <p14:creationId xmlns:p14="http://schemas.microsoft.com/office/powerpoint/2010/main" val="2401944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73"/>
        <p:cNvGrpSpPr/>
        <p:nvPr/>
      </p:nvGrpSpPr>
      <p:grpSpPr>
        <a:xfrm>
          <a:off x="0" y="0"/>
          <a:ext cx="0" cy="0"/>
          <a:chOff x="0" y="0"/>
          <a:chExt cx="0" cy="0"/>
        </a:xfrm>
      </p:grpSpPr>
      <p:sp>
        <p:nvSpPr>
          <p:cNvPr id="1048584" name="Google Shape;36974;p1"/>
          <p:cNvSpPr/>
          <p:nvPr/>
        </p:nvSpPr>
        <p:spPr>
          <a:xfrm>
            <a:off x="180413" y="274650"/>
            <a:ext cx="8772525" cy="6300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48586" name="Google Shape;36976;p1"/>
          <p:cNvSpPr/>
          <p:nvPr/>
        </p:nvSpPr>
        <p:spPr>
          <a:xfrm>
            <a:off x="1259681" y="-1684338"/>
            <a:ext cx="2657475" cy="3514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panose="020206030504050203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97152" name="Google Shape;36977;p1"/>
          <p:cNvPicPr preferRelativeResize="0"/>
          <p:nvPr/>
        </p:nvPicPr>
        <p:blipFill rotWithShape="1">
          <a:blip r:embed="rId3"/>
          <a:srcRect/>
          <a:stretch>
            <a:fillRect/>
          </a:stretch>
        </p:blipFill>
        <p:spPr>
          <a:xfrm>
            <a:off x="275439" y="356884"/>
            <a:ext cx="984242" cy="1300606"/>
          </a:xfrm>
          <a:prstGeom prst="rect">
            <a:avLst/>
          </a:prstGeom>
          <a:noFill/>
          <a:ln>
            <a:noFill/>
          </a:ln>
        </p:spPr>
      </p:pic>
      <p:sp>
        <p:nvSpPr>
          <p:cNvPr id="1048587" name="Google Shape;36978;p1"/>
          <p:cNvSpPr/>
          <p:nvPr/>
        </p:nvSpPr>
        <p:spPr>
          <a:xfrm>
            <a:off x="1163955" y="485776"/>
            <a:ext cx="6585109" cy="1856105"/>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Clr>
                <a:srgbClr val="000000"/>
              </a:buClr>
              <a:buSzPts val="2800"/>
              <a:buFont typeface="Times New Roman" panose="02020603050405020304"/>
              <a:buNone/>
            </a:pPr>
            <a:r>
              <a:rPr lang="en-US" sz="2800" b="1" i="0" u="none" strike="noStrike" cap="none" dirty="0">
                <a:solidFill>
                  <a:srgbClr val="002060"/>
                </a:solidFill>
                <a:latin typeface="Arial" panose="020B0604020202020204"/>
                <a:ea typeface="Arial" panose="020B0604020202020204"/>
                <a:cs typeface="Arial" panose="020B0604020202020204"/>
                <a:sym typeface="Arial" panose="020B0604020202020204"/>
              </a:rPr>
              <a:t>K.RAMAKRISHNAN COLLEGE OF ENGINEERING</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rgbClr val="000000"/>
              </a:buClr>
              <a:buSzPts val="1800"/>
              <a:buFont typeface="Times New Roman" panose="02020603050405020304"/>
              <a:buNone/>
            </a:pPr>
            <a:r>
              <a:rPr lang="en-US" sz="1800" b="1" i="0" u="none" strike="noStrike" cap="none" dirty="0">
                <a:solidFill>
                  <a:srgbClr val="FF0066"/>
                </a:solidFill>
                <a:latin typeface="Arial" panose="020B0604020202020204"/>
                <a:ea typeface="Arial" panose="020B0604020202020204"/>
                <a:cs typeface="Arial" panose="020B0604020202020204"/>
                <a:sym typeface="Arial" panose="020B0604020202020204"/>
              </a:rPr>
              <a:t>(AUTONOMOUS)</a:t>
            </a: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rgbClr val="000000"/>
              </a:buClr>
              <a:buSzPts val="1800"/>
              <a:buFont typeface="Times New Roman" panose="02020603050405020304"/>
              <a:buNone/>
            </a:pPr>
            <a:endParaRPr lang="en-US" sz="2400" b="1" i="0" u="none" strike="noStrike" cap="none"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marR="0" lvl="0" indent="0" algn="ctr" rtl="0">
              <a:spcBef>
                <a:spcPts val="0"/>
              </a:spcBef>
              <a:spcAft>
                <a:spcPts val="0"/>
              </a:spcAft>
              <a:buClr>
                <a:srgbClr val="000000"/>
              </a:buClr>
              <a:buSzPts val="1800"/>
              <a:buFont typeface="Times New Roman" panose="02020603050405020304"/>
              <a:buNone/>
            </a:pPr>
            <a:r>
              <a:rPr lang="en-US" b="1" i="0" u="none" strike="noStrike" cap="none" dirty="0">
                <a:solidFill>
                  <a:srgbClr val="0000FF"/>
                </a:solidFill>
                <a:latin typeface="Arial" panose="020B0604020202020204"/>
                <a:ea typeface="Arial" panose="020B0604020202020204"/>
                <a:cs typeface="Arial" panose="020B0604020202020204"/>
                <a:sym typeface="Arial" panose="020B0604020202020204"/>
              </a:rPr>
              <a:t> </a:t>
            </a:r>
            <a:endParaRPr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97153" name="Google Shape;36979;p1" descr="A blue and white logo&#10;&#10;Description automatically generated"/>
          <p:cNvPicPr preferRelativeResize="0"/>
          <p:nvPr/>
        </p:nvPicPr>
        <p:blipFill rotWithShape="1">
          <a:blip r:embed="rId4"/>
          <a:srcRect/>
          <a:stretch>
            <a:fillRect/>
          </a:stretch>
        </p:blipFill>
        <p:spPr>
          <a:xfrm>
            <a:off x="7617037" y="347940"/>
            <a:ext cx="1287038" cy="1309550"/>
          </a:xfrm>
          <a:prstGeom prst="rect">
            <a:avLst/>
          </a:prstGeom>
          <a:noFill/>
          <a:ln>
            <a:noFill/>
          </a:ln>
        </p:spPr>
      </p:pic>
      <p:sp>
        <p:nvSpPr>
          <p:cNvPr id="1048588" name="Google Shape;36980;p1"/>
          <p:cNvSpPr txBox="1"/>
          <p:nvPr/>
        </p:nvSpPr>
        <p:spPr>
          <a:xfrm>
            <a:off x="4383881" y="5867400"/>
            <a:ext cx="4760119" cy="758190"/>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Clr>
                <a:srgbClr val="C00000"/>
              </a:buClr>
              <a:buSzPts val="1800"/>
              <a:buFont typeface="Arial" panose="020B0604020202020204"/>
              <a:buNone/>
            </a:pPr>
            <a:r>
              <a:rPr lang="en-US" sz="1800" b="1" i="0" u="none" strike="noStrike" cap="none" dirty="0">
                <a:solidFill>
                  <a:srgbClr val="C00000"/>
                </a:solidFill>
                <a:latin typeface="Calibri" panose="020F0502020204030204"/>
                <a:ea typeface="Calibri" panose="020F0502020204030204"/>
                <a:cs typeface="Calibri" panose="020F0502020204030204"/>
                <a:sym typeface="Calibri" panose="020F0502020204030204"/>
              </a:rPr>
              <a:t>                                      </a:t>
            </a:r>
            <a:r>
              <a:rPr lang="en-US" sz="1800" b="1" i="0" u="none" strike="noStrike" cap="none" dirty="0">
                <a:solidFill>
                  <a:srgbClr val="C00000"/>
                </a:solidFill>
                <a:latin typeface="Arial" panose="020B0604020202020204"/>
                <a:ea typeface="Arial" panose="020B0604020202020204"/>
                <a:cs typeface="Arial" panose="020B0604020202020204"/>
                <a:sym typeface="Arial" panose="020B0604020202020204"/>
              </a:rPr>
              <a:t>Date: </a:t>
            </a:r>
            <a:r>
              <a:rPr lang="en-US" b="1" dirty="0">
                <a:solidFill>
                  <a:srgbClr val="C00000"/>
                </a:solidFill>
                <a:latin typeface="Arial" panose="020B0604020202020204"/>
                <a:ea typeface="Arial" panose="020B0604020202020204"/>
                <a:cs typeface="Arial" panose="020B0604020202020204"/>
                <a:sym typeface="Arial" panose="020B0604020202020204"/>
              </a:rPr>
              <a:t>06.05</a:t>
            </a:r>
            <a:r>
              <a:rPr lang="en-US" sz="1800" b="1" i="0" u="none" strike="noStrike" cap="none" dirty="0">
                <a:solidFill>
                  <a:srgbClr val="C00000"/>
                </a:solidFill>
                <a:latin typeface="Arial" panose="020B0604020202020204"/>
                <a:ea typeface="Arial" panose="020B0604020202020204"/>
                <a:cs typeface="Arial" panose="020B0604020202020204"/>
                <a:sym typeface="Arial" panose="020B0604020202020204"/>
              </a:rPr>
              <a:t>.2026</a:t>
            </a:r>
            <a:endParaRPr sz="1800" b="1" i="0" u="sng"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 name="TextBox 2">
            <a:extLst>
              <a:ext uri="{FF2B5EF4-FFF2-40B4-BE49-F238E27FC236}">
                <a16:creationId xmlns:a16="http://schemas.microsoft.com/office/drawing/2014/main" id="{D9D1BEA3-89EC-188F-1A52-6F0D5EC485E3}"/>
              </a:ext>
            </a:extLst>
          </p:cNvPr>
          <p:cNvSpPr txBox="1"/>
          <p:nvPr/>
        </p:nvSpPr>
        <p:spPr>
          <a:xfrm>
            <a:off x="609600" y="1959354"/>
            <a:ext cx="7696199" cy="1138773"/>
          </a:xfrm>
          <a:prstGeom prst="rect">
            <a:avLst/>
          </a:prstGeom>
          <a:noFill/>
        </p:spPr>
        <p:txBody>
          <a:bodyPr wrap="square" rtlCol="0">
            <a:spAutoFit/>
          </a:bodyPr>
          <a:lstStyle/>
          <a:p>
            <a:pPr algn="ctr"/>
            <a:r>
              <a:rPr lang="en-US" sz="2000" b="1" dirty="0">
                <a:solidFill>
                  <a:srgbClr val="C00000"/>
                </a:solidFill>
                <a:latin typeface="Arial" panose="020B0604020202020204"/>
                <a:ea typeface="Calibri" panose="020F0502020204030204"/>
                <a:cs typeface="Arial" panose="020B0604020202020204"/>
                <a:sym typeface="Arial" panose="020B0604020202020204"/>
              </a:rPr>
              <a:t>DEPARTMENT OF INFORMATION TECHNOLOGY</a:t>
            </a:r>
            <a:endParaRPr lang="en-US" sz="1600" dirty="0">
              <a:solidFill>
                <a:srgbClr val="C00000"/>
              </a:solidFill>
              <a:ea typeface="Calibri" panose="020F0502020204030204"/>
              <a:cs typeface="Calibri" panose="020F0502020204030204"/>
              <a:sym typeface="Calibri" panose="020F0502020204030204"/>
            </a:endParaRPr>
          </a:p>
          <a:p>
            <a:pPr algn="ctr">
              <a:buClr>
                <a:srgbClr val="000000"/>
              </a:buClr>
              <a:buSzPts val="1800"/>
            </a:pPr>
            <a:r>
              <a:rPr lang="en-US" sz="2400" b="1" dirty="0">
                <a:latin typeface="Times New Roman" panose="02020603050405020304" pitchFamily="18" charset="0"/>
                <a:cs typeface="Times New Roman" panose="02020603050405020304" pitchFamily="18" charset="0"/>
              </a:rPr>
              <a:t>A Digital Framework for Centralized Reporting and Resolution of Urban Infrastructure Problems</a:t>
            </a:r>
          </a:p>
        </p:txBody>
      </p:sp>
      <p:sp>
        <p:nvSpPr>
          <p:cNvPr id="5" name="TextBox 4">
            <a:extLst>
              <a:ext uri="{FF2B5EF4-FFF2-40B4-BE49-F238E27FC236}">
                <a16:creationId xmlns:a16="http://schemas.microsoft.com/office/drawing/2014/main" id="{04D48970-226C-C071-52EC-907ECF983DCF}"/>
              </a:ext>
            </a:extLst>
          </p:cNvPr>
          <p:cNvSpPr txBox="1"/>
          <p:nvPr/>
        </p:nvSpPr>
        <p:spPr>
          <a:xfrm>
            <a:off x="418538" y="3329577"/>
            <a:ext cx="5662222" cy="2951064"/>
          </a:xfrm>
          <a:prstGeom prst="rect">
            <a:avLst/>
          </a:prstGeom>
          <a:noFill/>
        </p:spPr>
        <p:txBody>
          <a:bodyPr wrap="square">
            <a:spAutoFit/>
          </a:bodyPr>
          <a:lstStyle/>
          <a:p>
            <a:pPr marL="0" lvl="0" indent="0">
              <a:lnSpc>
                <a:spcPct val="150000"/>
              </a:lnSpc>
              <a:spcBef>
                <a:spcPts val="0"/>
              </a:spcBef>
              <a:buClr>
                <a:srgbClr val="C00000"/>
              </a:buClr>
              <a:buSzPts val="2000"/>
              <a:buNone/>
            </a:pPr>
            <a:r>
              <a:rPr lang="en-US" sz="1800" b="1" dirty="0">
                <a:solidFill>
                  <a:srgbClr val="C00000"/>
                </a:solidFill>
                <a:latin typeface="Times New Roman" panose="02020603050405020304" pitchFamily="18" charset="0"/>
                <a:ea typeface="Arial" panose="020B0604020202020204"/>
                <a:cs typeface="Times New Roman" panose="02020603050405020304" pitchFamily="18" charset="0"/>
                <a:sym typeface="Arial" panose="020B0604020202020204"/>
              </a:rPr>
              <a:t>Presented by,</a:t>
            </a: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nSpc>
                <a:spcPct val="150000"/>
              </a:lnSpc>
              <a:spcBef>
                <a:spcPts val="0"/>
              </a:spcBef>
              <a:buClr>
                <a:srgbClr val="0000FF"/>
              </a:buClr>
              <a:buSzPts val="2400"/>
              <a:buNone/>
            </a:pPr>
            <a:r>
              <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Name                 : </a:t>
            </a:r>
            <a:r>
              <a:rPr lang="en-US"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ROOPASREE P</a:t>
            </a:r>
            <a:endPar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50000"/>
              </a:lnSpc>
              <a:spcBef>
                <a:spcPts val="0"/>
              </a:spcBef>
              <a:buClr>
                <a:srgbClr val="0000FF"/>
              </a:buClr>
              <a:buSzPts val="2400"/>
              <a:buNone/>
            </a:pPr>
            <a:r>
              <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Register No.      : 8115U23IT</a:t>
            </a:r>
            <a:r>
              <a:rPr lang="en-US" alt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085</a:t>
            </a: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nSpc>
                <a:spcPct val="150000"/>
              </a:lnSpc>
              <a:spcBef>
                <a:spcPts val="0"/>
              </a:spcBef>
              <a:buClr>
                <a:srgbClr val="0000FF"/>
              </a:buClr>
              <a:buSzPts val="2400"/>
              <a:buNone/>
            </a:pPr>
            <a:r>
              <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Roll. No.            : ITB23</a:t>
            </a:r>
            <a:r>
              <a:rPr lang="en-US" alt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23</a:t>
            </a:r>
            <a:endParaRPr lang="en-US" sz="18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nSpc>
                <a:spcPct val="150000"/>
              </a:lnSpc>
              <a:spcBef>
                <a:spcPts val="0"/>
              </a:spcBef>
              <a:buClr>
                <a:srgbClr val="0000FF"/>
              </a:buClr>
              <a:buSzPts val="2400"/>
              <a:buNone/>
            </a:pPr>
            <a:r>
              <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Year &amp; Section : III- IT B</a:t>
            </a:r>
          </a:p>
          <a:p>
            <a:pPr marL="0" indent="0">
              <a:lnSpc>
                <a:spcPct val="150000"/>
              </a:lnSpc>
              <a:spcBef>
                <a:spcPts val="0"/>
              </a:spcBef>
              <a:buClr>
                <a:srgbClr val="0000FF"/>
              </a:buClr>
              <a:buSzPts val="2400"/>
              <a:buNone/>
            </a:pPr>
            <a:r>
              <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Course Code    : </a:t>
            </a:r>
            <a:r>
              <a:rPr lang="en-IN" alt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ITC1371</a:t>
            </a:r>
          </a:p>
          <a:p>
            <a:pPr marL="0" indent="0">
              <a:lnSpc>
                <a:spcPct val="150000"/>
              </a:lnSpc>
              <a:spcBef>
                <a:spcPts val="0"/>
              </a:spcBef>
              <a:buClr>
                <a:srgbClr val="0000FF"/>
              </a:buClr>
              <a:buSzPts val="2400"/>
              <a:buNone/>
            </a:pPr>
            <a:r>
              <a:rPr lang="en-IN"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rPr>
              <a:t>Course Name   :  FULL STACK DEVELOPMENT</a:t>
            </a:r>
            <a:endParaRPr lang="en-US" sz="1800" b="1" dirty="0">
              <a:solidFill>
                <a:srgbClr val="0000FF"/>
              </a:solidFill>
              <a:latin typeface="Times New Roman" panose="02020603050405020304" pitchFamily="18" charset="0"/>
              <a:ea typeface="Arial" panose="020B0604020202020204"/>
              <a:cs typeface="Times New Roman" panose="02020603050405020304" pitchFamily="18" charset="0"/>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05923-3684-8C46-CA04-F590A4016E0C}"/>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2. Issue Reporting Module</a:t>
            </a:r>
          </a:p>
        </p:txBody>
      </p:sp>
      <p:sp>
        <p:nvSpPr>
          <p:cNvPr id="3" name="Content Placeholder 2">
            <a:extLst>
              <a:ext uri="{FF2B5EF4-FFF2-40B4-BE49-F238E27FC236}">
                <a16:creationId xmlns:a16="http://schemas.microsoft.com/office/drawing/2014/main" id="{028A7E8C-F6BA-43A1-7E84-604FB03D1143}"/>
              </a:ext>
            </a:extLst>
          </p:cNvPr>
          <p:cNvSpPr>
            <a:spLocks noGrp="1"/>
          </p:cNvSpPr>
          <p:nvPr>
            <p:ph idx="1"/>
          </p:nvPr>
        </p:nvSpPr>
        <p:spPr>
          <a:xfrm>
            <a:off x="228600" y="1524000"/>
            <a:ext cx="8686800" cy="4525963"/>
          </a:xfrm>
        </p:spPr>
        <p:txBody>
          <a:bodyPr>
            <a:normAutofit/>
          </a:bodyPr>
          <a:lstStyle/>
          <a:p>
            <a:pPr algn="just"/>
            <a:r>
              <a:rPr lang="en-US" sz="2800" b="1" dirty="0">
                <a:latin typeface="Times New Roman" panose="02020603050405020304" pitchFamily="18" charset="0"/>
                <a:cs typeface="Times New Roman" panose="02020603050405020304" pitchFamily="18" charset="0"/>
              </a:rPr>
              <a:t>Purpose:</a:t>
            </a:r>
            <a:r>
              <a:rPr lang="en-US" sz="2800" dirty="0">
                <a:latin typeface="Times New Roman" panose="02020603050405020304" pitchFamily="18" charset="0"/>
                <a:cs typeface="Times New Roman" panose="02020603050405020304" pitchFamily="18" charset="0"/>
              </a:rPr>
              <a:t> Handles the core business logic for creating and storing urban complaints. </a:t>
            </a:r>
          </a:p>
          <a:p>
            <a:pPr algn="just"/>
            <a:r>
              <a:rPr lang="en-US" sz="2800" b="1" dirty="0">
                <a:latin typeface="Times New Roman" panose="02020603050405020304" pitchFamily="18" charset="0"/>
                <a:cs typeface="Times New Roman" panose="02020603050405020304" pitchFamily="18" charset="0"/>
              </a:rPr>
              <a:t>Key Files:</a:t>
            </a:r>
            <a:r>
              <a:rPr lang="en-US" sz="2800" dirty="0">
                <a:latin typeface="Times New Roman" panose="02020603050405020304" pitchFamily="18" charset="0"/>
                <a:cs typeface="Times New Roman" panose="02020603050405020304" pitchFamily="18" charset="0"/>
              </a:rPr>
              <a:t> models/Report.js, middleware/upload.js. </a:t>
            </a:r>
          </a:p>
          <a:p>
            <a:pPr algn="just"/>
            <a:r>
              <a:rPr lang="en-US" sz="2800" b="1" dirty="0">
                <a:latin typeface="Times New Roman" panose="02020603050405020304" pitchFamily="18" charset="0"/>
                <a:cs typeface="Times New Roman" panose="02020603050405020304" pitchFamily="18" charset="0"/>
              </a:rPr>
              <a:t>Functionality:</a:t>
            </a:r>
            <a:endParaRPr lang="en-US" sz="2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Modeling:</a:t>
            </a:r>
            <a:r>
              <a:rPr lang="en-US" dirty="0">
                <a:latin typeface="Times New Roman" panose="02020603050405020304" pitchFamily="18" charset="0"/>
                <a:cs typeface="Times New Roman" panose="02020603050405020304" pitchFamily="18" charset="0"/>
              </a:rPr>
              <a:t> Defines the structure of a "Report," including location, category, and status. </a:t>
            </a:r>
          </a:p>
          <a:p>
            <a:pPr lvl="1"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File Handling:</a:t>
            </a:r>
            <a:r>
              <a:rPr lang="en-US" dirty="0">
                <a:latin typeface="Times New Roman" panose="02020603050405020304" pitchFamily="18" charset="0"/>
                <a:cs typeface="Times New Roman" panose="02020603050405020304" pitchFamily="18" charset="0"/>
              </a:rPr>
              <a:t> Manages the logic for uploading and storing images or documents as photographic evidence for the report. </a:t>
            </a:r>
          </a:p>
          <a:p>
            <a:endParaRPr lang="en-US" dirty="0"/>
          </a:p>
        </p:txBody>
      </p:sp>
    </p:spTree>
    <p:extLst>
      <p:ext uri="{BB962C8B-B14F-4D97-AF65-F5344CB8AC3E}">
        <p14:creationId xmlns:p14="http://schemas.microsoft.com/office/powerpoint/2010/main" val="3995818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AAFE3-7566-C63A-A6A0-D4252C22A85B}"/>
              </a:ext>
            </a:extLst>
          </p:cNvPr>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Database Management Module</a:t>
            </a:r>
            <a:br>
              <a:rPr lang="en-US" b="1" dirty="0"/>
            </a:br>
            <a:r>
              <a:rPr lang="en-US"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EEC0FC57-0BC5-C89B-8D90-297866CCB12A}"/>
              </a:ext>
            </a:extLst>
          </p:cNvPr>
          <p:cNvSpPr>
            <a:spLocks noGrp="1"/>
          </p:cNvSpPr>
          <p:nvPr>
            <p:ph idx="1"/>
          </p:nvPr>
        </p:nvSpPr>
        <p:spPr/>
        <p:txBody>
          <a:bodyPr/>
          <a:lstStyle/>
          <a:p>
            <a:pPr algn="just"/>
            <a:r>
              <a:rPr lang="en-US" sz="2800" b="1" dirty="0">
                <a:latin typeface="Times New Roman" panose="02020603050405020304" pitchFamily="18" charset="0"/>
                <a:cs typeface="Times New Roman" panose="02020603050405020304" pitchFamily="18" charset="0"/>
              </a:rPr>
              <a:t>Purpose:</a:t>
            </a:r>
            <a:r>
              <a:rPr lang="en-US" sz="2800" dirty="0">
                <a:latin typeface="Times New Roman" panose="02020603050405020304" pitchFamily="18" charset="0"/>
                <a:cs typeface="Times New Roman" panose="02020603050405020304" pitchFamily="18" charset="0"/>
              </a:rPr>
              <a:t> Provides a persistent storage layer for all system data. </a:t>
            </a:r>
          </a:p>
          <a:p>
            <a:pPr algn="just"/>
            <a:r>
              <a:rPr lang="en-US" sz="2800" b="1" dirty="0">
                <a:latin typeface="Times New Roman" panose="02020603050405020304" pitchFamily="18" charset="0"/>
                <a:cs typeface="Times New Roman" panose="02020603050405020304" pitchFamily="18" charset="0"/>
              </a:rPr>
              <a:t>Technology:</a:t>
            </a:r>
            <a:r>
              <a:rPr lang="en-US" sz="2800" dirty="0">
                <a:latin typeface="Times New Roman" panose="02020603050405020304" pitchFamily="18" charset="0"/>
                <a:cs typeface="Times New Roman" panose="02020603050405020304" pitchFamily="18" charset="0"/>
              </a:rPr>
              <a:t> MongoDB. </a:t>
            </a:r>
          </a:p>
          <a:p>
            <a:pPr algn="just"/>
            <a:r>
              <a:rPr lang="en-US" sz="2800" b="1" dirty="0">
                <a:latin typeface="Times New Roman" panose="02020603050405020304" pitchFamily="18" charset="0"/>
                <a:cs typeface="Times New Roman" panose="02020603050405020304" pitchFamily="18" charset="0"/>
              </a:rPr>
              <a:t>Functionality:</a:t>
            </a:r>
            <a:r>
              <a:rPr lang="en-US" sz="2800" dirty="0">
                <a:latin typeface="Times New Roman" panose="02020603050405020304" pitchFamily="18" charset="0"/>
                <a:cs typeface="Times New Roman" panose="02020603050405020304" pitchFamily="18" charset="0"/>
              </a:rPr>
              <a:t> This module uses schemas (defined in the models/ directory) to ensure data consistency for users and civic issues across the platform.</a:t>
            </a:r>
          </a:p>
          <a:p>
            <a:endParaRPr lang="en-US" dirty="0"/>
          </a:p>
        </p:txBody>
      </p:sp>
    </p:spTree>
    <p:extLst>
      <p:ext uri="{BB962C8B-B14F-4D97-AF65-F5344CB8AC3E}">
        <p14:creationId xmlns:p14="http://schemas.microsoft.com/office/powerpoint/2010/main" val="362141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AD57D-1DD7-A83F-53B7-064E9501655B}"/>
              </a:ext>
            </a:extLst>
          </p:cNvPr>
          <p:cNvSpPr>
            <a:spLocks noGrp="1"/>
          </p:cNvSpPr>
          <p:nvPr>
            <p:ph type="title"/>
          </p:nvPr>
        </p:nvSpPr>
        <p:spPr>
          <a:xfrm>
            <a:off x="457200" y="731836"/>
            <a:ext cx="8229600" cy="685801"/>
          </a:xfrm>
        </p:spPr>
        <p:txBody>
          <a:bodyPr>
            <a:normAutofit fontScale="90000"/>
          </a:bodyPr>
          <a:lstStyle/>
          <a:p>
            <a:r>
              <a:rPr lang="en-US" b="1" dirty="0">
                <a:latin typeface="Times New Roman" panose="02020603050405020304" pitchFamily="18" charset="0"/>
                <a:cs typeface="Times New Roman" panose="02020603050405020304" pitchFamily="18" charset="0"/>
              </a:rPr>
              <a:t>Administrative &amp; Reporting Module</a:t>
            </a:r>
            <a:br>
              <a:rPr lang="en-US" b="1" dirty="0"/>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F3CBCC-5E17-2DFB-454B-5299B0DA5AB9}"/>
              </a:ext>
            </a:extLst>
          </p:cNvPr>
          <p:cNvSpPr>
            <a:spLocks noGrp="1"/>
          </p:cNvSpPr>
          <p:nvPr>
            <p:ph idx="1"/>
          </p:nvPr>
        </p:nvSpPr>
        <p:spPr>
          <a:xfrm>
            <a:off x="457200" y="1600200"/>
            <a:ext cx="8305800" cy="4525963"/>
          </a:xfrm>
        </p:spPr>
        <p:txBody>
          <a:bodyPr>
            <a:normAutofit/>
          </a:bodyPr>
          <a:lstStyle/>
          <a:p>
            <a:pPr algn="just"/>
            <a:r>
              <a:rPr lang="en-US" sz="2800" b="1" dirty="0">
                <a:latin typeface="Times New Roman" panose="02020603050405020304" pitchFamily="18" charset="0"/>
                <a:cs typeface="Times New Roman" panose="02020603050405020304" pitchFamily="18" charset="0"/>
              </a:rPr>
              <a:t>Purpose:</a:t>
            </a:r>
            <a:r>
              <a:rPr lang="en-US" sz="2800" dirty="0">
                <a:latin typeface="Times New Roman" panose="02020603050405020304" pitchFamily="18" charset="0"/>
                <a:cs typeface="Times New Roman" panose="02020603050405020304" pitchFamily="18" charset="0"/>
              </a:rPr>
              <a:t> Empowering officials to analyze data and close tickets. </a:t>
            </a:r>
          </a:p>
          <a:p>
            <a:pPr algn="just"/>
            <a:r>
              <a:rPr lang="en-US" sz="2800" b="1" dirty="0">
                <a:latin typeface="Times New Roman" panose="02020603050405020304" pitchFamily="18" charset="0"/>
                <a:cs typeface="Times New Roman" panose="02020603050405020304" pitchFamily="18" charset="0"/>
              </a:rPr>
              <a:t>Key Features:</a:t>
            </a:r>
            <a:r>
              <a:rPr lang="en-US" sz="2800" dirty="0">
                <a:latin typeface="Times New Roman" panose="02020603050405020304" pitchFamily="18" charset="0"/>
                <a:cs typeface="Times New Roman" panose="02020603050405020304" pitchFamily="18" charset="0"/>
              </a:rPr>
              <a:t> xlsx integration. </a:t>
            </a:r>
          </a:p>
          <a:p>
            <a:pPr algn="just"/>
            <a:r>
              <a:rPr lang="en-US" sz="2800" b="1" dirty="0">
                <a:latin typeface="Times New Roman" panose="02020603050405020304" pitchFamily="18" charset="0"/>
                <a:cs typeface="Times New Roman" panose="02020603050405020304" pitchFamily="18" charset="0"/>
              </a:rPr>
              <a:t>Functionality:</a:t>
            </a:r>
            <a:r>
              <a:rPr lang="en-US" sz="2800" dirty="0">
                <a:latin typeface="Times New Roman" panose="02020603050405020304" pitchFamily="18" charset="0"/>
                <a:cs typeface="Times New Roman" panose="02020603050405020304" pitchFamily="18" charset="0"/>
              </a:rPr>
              <a:t> This module allows administrators to view all active reports and export urban data into Excel formats for offline analysis and government record-keeping.</a:t>
            </a:r>
          </a:p>
          <a:p>
            <a:endParaRPr lang="en-US" dirty="0"/>
          </a:p>
          <a:p>
            <a:endParaRPr lang="en-US" dirty="0"/>
          </a:p>
        </p:txBody>
      </p:sp>
    </p:spTree>
    <p:extLst>
      <p:ext uri="{BB962C8B-B14F-4D97-AF65-F5344CB8AC3E}">
        <p14:creationId xmlns:p14="http://schemas.microsoft.com/office/powerpoint/2010/main" val="1759929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BEDF-5745-0892-AD93-0E3A84FFB17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User Interface Module</a:t>
            </a:r>
          </a:p>
        </p:txBody>
      </p:sp>
      <p:sp>
        <p:nvSpPr>
          <p:cNvPr id="3" name="Content Placeholder 2">
            <a:extLst>
              <a:ext uri="{FF2B5EF4-FFF2-40B4-BE49-F238E27FC236}">
                <a16:creationId xmlns:a16="http://schemas.microsoft.com/office/drawing/2014/main" id="{5B3D675C-1066-135B-7426-AF08D96ABFF3}"/>
              </a:ext>
            </a:extLst>
          </p:cNvPr>
          <p:cNvSpPr>
            <a:spLocks noGrp="1"/>
          </p:cNvSpPr>
          <p:nvPr>
            <p:ph idx="1"/>
          </p:nvPr>
        </p:nvSpPr>
        <p:spPr/>
        <p:txBody>
          <a:bodyPr/>
          <a:lstStyle/>
          <a:p>
            <a:r>
              <a:rPr lang="en-US" sz="2800" b="1" dirty="0">
                <a:latin typeface="Times New Roman" panose="02020603050405020304" pitchFamily="18" charset="0"/>
                <a:cs typeface="Times New Roman" panose="02020603050405020304" pitchFamily="18" charset="0"/>
              </a:rPr>
              <a:t>Purpose:</a:t>
            </a:r>
            <a:r>
              <a:rPr lang="en-US" sz="2800" dirty="0">
                <a:latin typeface="Times New Roman" panose="02020603050405020304" pitchFamily="18" charset="0"/>
                <a:cs typeface="Times New Roman" panose="02020603050405020304" pitchFamily="18" charset="0"/>
              </a:rPr>
              <a:t> Provides a responsive portal for citizens to interact with the system. </a:t>
            </a:r>
          </a:p>
          <a:p>
            <a:r>
              <a:rPr lang="en-US" sz="2800" b="1" dirty="0">
                <a:latin typeface="Times New Roman" panose="02020603050405020304" pitchFamily="18" charset="0"/>
                <a:cs typeface="Times New Roman" panose="02020603050405020304" pitchFamily="18" charset="0"/>
              </a:rPr>
              <a:t>Component:</a:t>
            </a:r>
            <a:r>
              <a:rPr lang="en-US" sz="2800" dirty="0">
                <a:latin typeface="Times New Roman" panose="02020603050405020304" pitchFamily="18" charset="0"/>
                <a:cs typeface="Times New Roman" panose="02020603050405020304" pitchFamily="18" charset="0"/>
              </a:rPr>
              <a:t> Represented by the </a:t>
            </a:r>
            <a:r>
              <a:rPr lang="en-US" sz="2800" dirty="0" err="1">
                <a:latin typeface="Times New Roman" panose="02020603050405020304" pitchFamily="18" charset="0"/>
                <a:cs typeface="Times New Roman" panose="02020603050405020304" pitchFamily="18" charset="0"/>
              </a:rPr>
              <a:t>ux</a:t>
            </a:r>
            <a:r>
              <a:rPr lang="en-US" sz="2800" dirty="0">
                <a:latin typeface="Times New Roman" panose="02020603050405020304" pitchFamily="18" charset="0"/>
                <a:cs typeface="Times New Roman" panose="02020603050405020304" pitchFamily="18" charset="0"/>
              </a:rPr>
              <a:t>/ directory and related web assets. </a:t>
            </a:r>
          </a:p>
          <a:p>
            <a:r>
              <a:rPr lang="en-US" sz="2800" b="1" dirty="0">
                <a:latin typeface="Times New Roman" panose="02020603050405020304" pitchFamily="18" charset="0"/>
                <a:cs typeface="Times New Roman" panose="02020603050405020304" pitchFamily="18" charset="0"/>
              </a:rPr>
              <a:t>Functionality:</a:t>
            </a:r>
            <a:r>
              <a:rPr lang="en-US" sz="2800" dirty="0">
                <a:latin typeface="Times New Roman" panose="02020603050405020304" pitchFamily="18" charset="0"/>
                <a:cs typeface="Times New Roman" panose="02020603050405020304" pitchFamily="18" charset="0"/>
              </a:rPr>
              <a:t> This module translates complex backend data into a user-friendly dashboard where residents can see their report history and view a map of community issues.</a:t>
            </a:r>
          </a:p>
          <a:p>
            <a:endParaRPr lang="en-US" dirty="0"/>
          </a:p>
        </p:txBody>
      </p:sp>
    </p:spTree>
    <p:extLst>
      <p:ext uri="{BB962C8B-B14F-4D97-AF65-F5344CB8AC3E}">
        <p14:creationId xmlns:p14="http://schemas.microsoft.com/office/powerpoint/2010/main" val="326027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F073C1-95E7-AEF7-50B1-037130096E87}"/>
              </a:ext>
            </a:extLst>
          </p:cNvPr>
          <p:cNvSpPr txBox="1"/>
          <p:nvPr/>
        </p:nvSpPr>
        <p:spPr>
          <a:xfrm>
            <a:off x="2286000" y="0"/>
            <a:ext cx="4572000" cy="646331"/>
          </a:xfrm>
          <a:prstGeom prst="rect">
            <a:avLst/>
          </a:prstGeom>
          <a:no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Output</a:t>
            </a:r>
          </a:p>
        </p:txBody>
      </p:sp>
      <p:pic>
        <p:nvPicPr>
          <p:cNvPr id="3" name="Picture 2">
            <a:extLst>
              <a:ext uri="{FF2B5EF4-FFF2-40B4-BE49-F238E27FC236}">
                <a16:creationId xmlns:a16="http://schemas.microsoft.com/office/drawing/2014/main" id="{84C0AA96-11C3-0DD9-66F7-05466A8F0AB6}"/>
              </a:ext>
            </a:extLst>
          </p:cNvPr>
          <p:cNvPicPr>
            <a:picLocks noChangeAspect="1"/>
          </p:cNvPicPr>
          <p:nvPr/>
        </p:nvPicPr>
        <p:blipFill>
          <a:blip r:embed="rId2"/>
          <a:stretch>
            <a:fillRect/>
          </a:stretch>
        </p:blipFill>
        <p:spPr>
          <a:xfrm>
            <a:off x="381000" y="646331"/>
            <a:ext cx="8610600" cy="2782669"/>
          </a:xfrm>
          <a:prstGeom prst="rect">
            <a:avLst/>
          </a:prstGeom>
        </p:spPr>
      </p:pic>
      <p:pic>
        <p:nvPicPr>
          <p:cNvPr id="6" name="Picture 5">
            <a:extLst>
              <a:ext uri="{FF2B5EF4-FFF2-40B4-BE49-F238E27FC236}">
                <a16:creationId xmlns:a16="http://schemas.microsoft.com/office/drawing/2014/main" id="{DF19911D-A5C7-8031-FD22-C3008A34C3F8}"/>
              </a:ext>
            </a:extLst>
          </p:cNvPr>
          <p:cNvPicPr>
            <a:picLocks noChangeAspect="1"/>
          </p:cNvPicPr>
          <p:nvPr/>
        </p:nvPicPr>
        <p:blipFill>
          <a:blip r:embed="rId3"/>
          <a:srcRect t="10784"/>
          <a:stretch>
            <a:fillRect/>
          </a:stretch>
        </p:blipFill>
        <p:spPr>
          <a:xfrm>
            <a:off x="381000" y="3581400"/>
            <a:ext cx="8610600" cy="2986688"/>
          </a:xfrm>
          <a:prstGeom prst="rect">
            <a:avLst/>
          </a:prstGeom>
        </p:spPr>
      </p:pic>
    </p:spTree>
    <p:extLst>
      <p:ext uri="{BB962C8B-B14F-4D97-AF65-F5344CB8AC3E}">
        <p14:creationId xmlns:p14="http://schemas.microsoft.com/office/powerpoint/2010/main" val="1158287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7301D6EC-F1E9-ED38-2850-A219C39754E7}"/>
              </a:ext>
            </a:extLst>
          </p:cNvPr>
          <p:cNvPicPr>
            <a:picLocks noGrp="1" noChangeAspect="1"/>
          </p:cNvPicPr>
          <p:nvPr>
            <p:ph idx="1"/>
          </p:nvPr>
        </p:nvPicPr>
        <p:blipFill>
          <a:blip r:embed="rId2"/>
          <a:srcRect l="33738" t="10088" r="33797"/>
          <a:stretch>
            <a:fillRect/>
          </a:stretch>
        </p:blipFill>
        <p:spPr>
          <a:xfrm>
            <a:off x="304801" y="265437"/>
            <a:ext cx="4038600" cy="6017274"/>
          </a:xfrm>
          <a:prstGeom prst="rect">
            <a:avLst/>
          </a:prstGeom>
        </p:spPr>
      </p:pic>
      <p:pic>
        <p:nvPicPr>
          <p:cNvPr id="6" name="Picture 5">
            <a:extLst>
              <a:ext uri="{FF2B5EF4-FFF2-40B4-BE49-F238E27FC236}">
                <a16:creationId xmlns:a16="http://schemas.microsoft.com/office/drawing/2014/main" id="{1C83B051-AB71-DF29-8BCD-25A0439AAEED}"/>
              </a:ext>
            </a:extLst>
          </p:cNvPr>
          <p:cNvPicPr>
            <a:picLocks noChangeAspect="1"/>
          </p:cNvPicPr>
          <p:nvPr/>
        </p:nvPicPr>
        <p:blipFill>
          <a:blip r:embed="rId3"/>
          <a:stretch>
            <a:fillRect/>
          </a:stretch>
        </p:blipFill>
        <p:spPr>
          <a:xfrm>
            <a:off x="4648201" y="265437"/>
            <a:ext cx="4154128" cy="6017274"/>
          </a:xfrm>
          <a:prstGeom prst="rect">
            <a:avLst/>
          </a:prstGeom>
        </p:spPr>
      </p:pic>
    </p:spTree>
    <p:extLst>
      <p:ext uri="{BB962C8B-B14F-4D97-AF65-F5344CB8AC3E}">
        <p14:creationId xmlns:p14="http://schemas.microsoft.com/office/powerpoint/2010/main" val="1396675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1F7143C-D78E-44AA-E9C7-8B403DAA66DE}"/>
              </a:ext>
            </a:extLst>
          </p:cNvPr>
          <p:cNvPicPr>
            <a:picLocks noGrp="1" noChangeAspect="1"/>
          </p:cNvPicPr>
          <p:nvPr>
            <p:ph idx="1"/>
          </p:nvPr>
        </p:nvPicPr>
        <p:blipFill>
          <a:blip r:embed="rId2"/>
          <a:srcRect t="10439"/>
          <a:stretch>
            <a:fillRect/>
          </a:stretch>
        </p:blipFill>
        <p:spPr>
          <a:xfrm>
            <a:off x="457200" y="304800"/>
            <a:ext cx="8305800" cy="2971800"/>
          </a:xfrm>
          <a:prstGeom prst="rect">
            <a:avLst/>
          </a:prstGeom>
        </p:spPr>
      </p:pic>
      <p:pic>
        <p:nvPicPr>
          <p:cNvPr id="3" name="Picture 2">
            <a:extLst>
              <a:ext uri="{FF2B5EF4-FFF2-40B4-BE49-F238E27FC236}">
                <a16:creationId xmlns:a16="http://schemas.microsoft.com/office/drawing/2014/main" id="{53258BA3-03E4-8758-385B-2274B9F86690}"/>
              </a:ext>
            </a:extLst>
          </p:cNvPr>
          <p:cNvPicPr>
            <a:picLocks noChangeAspect="1"/>
          </p:cNvPicPr>
          <p:nvPr/>
        </p:nvPicPr>
        <p:blipFill>
          <a:blip r:embed="rId3"/>
          <a:stretch>
            <a:fillRect/>
          </a:stretch>
        </p:blipFill>
        <p:spPr>
          <a:xfrm>
            <a:off x="452284" y="3429000"/>
            <a:ext cx="8340213" cy="3124200"/>
          </a:xfrm>
          <a:prstGeom prst="rect">
            <a:avLst/>
          </a:prstGeom>
        </p:spPr>
      </p:pic>
    </p:spTree>
    <p:extLst>
      <p:ext uri="{BB962C8B-B14F-4D97-AF65-F5344CB8AC3E}">
        <p14:creationId xmlns:p14="http://schemas.microsoft.com/office/powerpoint/2010/main" val="2091941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51DB477-38E8-CD24-7268-710F6310648C}"/>
              </a:ext>
            </a:extLst>
          </p:cNvPr>
          <p:cNvPicPr>
            <a:picLocks noGrp="1" noChangeAspect="1"/>
          </p:cNvPicPr>
          <p:nvPr>
            <p:ph idx="1"/>
          </p:nvPr>
        </p:nvPicPr>
        <p:blipFill>
          <a:blip r:embed="rId2"/>
          <a:stretch>
            <a:fillRect/>
          </a:stretch>
        </p:blipFill>
        <p:spPr>
          <a:xfrm>
            <a:off x="304800" y="457201"/>
            <a:ext cx="8458199" cy="2743199"/>
          </a:xfrm>
          <a:prstGeom prst="rect">
            <a:avLst/>
          </a:prstGeom>
        </p:spPr>
      </p:pic>
      <p:pic>
        <p:nvPicPr>
          <p:cNvPr id="10" name="Picture 9">
            <a:extLst>
              <a:ext uri="{FF2B5EF4-FFF2-40B4-BE49-F238E27FC236}">
                <a16:creationId xmlns:a16="http://schemas.microsoft.com/office/drawing/2014/main" id="{92509994-CFBE-2356-0A20-77D8F6CEE4F3}"/>
              </a:ext>
            </a:extLst>
          </p:cNvPr>
          <p:cNvPicPr>
            <a:picLocks noChangeAspect="1"/>
          </p:cNvPicPr>
          <p:nvPr/>
        </p:nvPicPr>
        <p:blipFill>
          <a:blip r:embed="rId3"/>
          <a:stretch>
            <a:fillRect/>
          </a:stretch>
        </p:blipFill>
        <p:spPr>
          <a:xfrm>
            <a:off x="307258" y="3352800"/>
            <a:ext cx="8455741" cy="3373908"/>
          </a:xfrm>
          <a:prstGeom prst="rect">
            <a:avLst/>
          </a:prstGeom>
        </p:spPr>
      </p:pic>
    </p:spTree>
    <p:extLst>
      <p:ext uri="{BB962C8B-B14F-4D97-AF65-F5344CB8AC3E}">
        <p14:creationId xmlns:p14="http://schemas.microsoft.com/office/powerpoint/2010/main" val="41668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8738B5-BAE3-7A89-466E-12FA55D0DA08}"/>
              </a:ext>
            </a:extLst>
          </p:cNvPr>
          <p:cNvPicPr>
            <a:picLocks noGrp="1" noChangeAspect="1"/>
          </p:cNvPicPr>
          <p:nvPr>
            <p:ph idx="1"/>
          </p:nvPr>
        </p:nvPicPr>
        <p:blipFill>
          <a:blip r:embed="rId2"/>
          <a:srcRect t="10455"/>
          <a:stretch>
            <a:fillRect/>
          </a:stretch>
        </p:blipFill>
        <p:spPr>
          <a:xfrm>
            <a:off x="457200" y="609600"/>
            <a:ext cx="8229600" cy="5791200"/>
          </a:xfrm>
          <a:prstGeom prst="rect">
            <a:avLst/>
          </a:prstGeom>
        </p:spPr>
      </p:pic>
    </p:spTree>
    <p:extLst>
      <p:ext uri="{BB962C8B-B14F-4D97-AF65-F5344CB8AC3E}">
        <p14:creationId xmlns:p14="http://schemas.microsoft.com/office/powerpoint/2010/main" val="2267676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DDDB6AA-CF81-7045-5B4E-60F23B219661}"/>
              </a:ext>
            </a:extLst>
          </p:cNvPr>
          <p:cNvPicPr>
            <a:picLocks noGrp="1" noChangeAspect="1"/>
          </p:cNvPicPr>
          <p:nvPr>
            <p:ph idx="1"/>
          </p:nvPr>
        </p:nvPicPr>
        <p:blipFill>
          <a:blip r:embed="rId2"/>
          <a:srcRect t="10439"/>
          <a:stretch>
            <a:fillRect/>
          </a:stretch>
        </p:blipFill>
        <p:spPr>
          <a:xfrm>
            <a:off x="381000" y="533400"/>
            <a:ext cx="8469288" cy="2895600"/>
          </a:xfrm>
          <a:prstGeom prst="rect">
            <a:avLst/>
          </a:prstGeom>
        </p:spPr>
      </p:pic>
      <p:pic>
        <p:nvPicPr>
          <p:cNvPr id="3" name="Picture 2">
            <a:extLst>
              <a:ext uri="{FF2B5EF4-FFF2-40B4-BE49-F238E27FC236}">
                <a16:creationId xmlns:a16="http://schemas.microsoft.com/office/drawing/2014/main" id="{5D3E802B-FBD1-7BEF-17ED-02E7C2689C53}"/>
              </a:ext>
            </a:extLst>
          </p:cNvPr>
          <p:cNvPicPr>
            <a:picLocks noChangeAspect="1"/>
          </p:cNvPicPr>
          <p:nvPr/>
        </p:nvPicPr>
        <p:blipFill>
          <a:blip r:embed="rId3"/>
          <a:stretch>
            <a:fillRect/>
          </a:stretch>
        </p:blipFill>
        <p:spPr>
          <a:xfrm>
            <a:off x="353961" y="3581400"/>
            <a:ext cx="8496327" cy="2971800"/>
          </a:xfrm>
          <a:prstGeom prst="rect">
            <a:avLst/>
          </a:prstGeom>
        </p:spPr>
      </p:pic>
    </p:spTree>
    <p:extLst>
      <p:ext uri="{BB962C8B-B14F-4D97-AF65-F5344CB8AC3E}">
        <p14:creationId xmlns:p14="http://schemas.microsoft.com/office/powerpoint/2010/main" val="3970899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82D5-8F5F-3837-29A5-4F2964BB303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712FF63-1E8A-CB15-8C8C-D48DC0C2808D}"/>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This project is a smart system that allows users to report urban issues and track their status, while administrators monitor all reports and update their progress. It improves transparency, enables faster issue resolution, and promotes better coordination between citizens and authorities for safer and more efficient city management.</a:t>
            </a:r>
          </a:p>
          <a:p>
            <a:endParaRPr lang="en-US" dirty="0"/>
          </a:p>
        </p:txBody>
      </p:sp>
    </p:spTree>
    <p:extLst>
      <p:ext uri="{BB962C8B-B14F-4D97-AF65-F5344CB8AC3E}">
        <p14:creationId xmlns:p14="http://schemas.microsoft.com/office/powerpoint/2010/main" val="188208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4063-5C2D-1D38-AB63-C3471BB52E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Enhancement</a:t>
            </a:r>
          </a:p>
        </p:txBody>
      </p:sp>
      <p:sp>
        <p:nvSpPr>
          <p:cNvPr id="3" name="Content Placeholder 2">
            <a:extLst>
              <a:ext uri="{FF2B5EF4-FFF2-40B4-BE49-F238E27FC236}">
                <a16:creationId xmlns:a16="http://schemas.microsoft.com/office/drawing/2014/main" id="{74C7173F-E187-9B44-D4DB-DF6849DDE9E0}"/>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UrbanLens</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CityGuard</a:t>
            </a:r>
            <a:r>
              <a:rPr lang="en-US" dirty="0">
                <a:latin typeface="Times New Roman" panose="02020603050405020304" pitchFamily="18" charset="0"/>
                <a:cs typeface="Times New Roman" panose="02020603050405020304" pitchFamily="18" charset="0"/>
              </a:rPr>
              <a:t> can be enhanced by integrating with government systems for verified data and faster response, along with GPS-based location tracking for accurate issue reporting, making the platform more reliable and trustworthy.</a:t>
            </a:r>
          </a:p>
        </p:txBody>
      </p:sp>
    </p:spTree>
    <p:extLst>
      <p:ext uri="{BB962C8B-B14F-4D97-AF65-F5344CB8AC3E}">
        <p14:creationId xmlns:p14="http://schemas.microsoft.com/office/powerpoint/2010/main" val="2138535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D41342-99EE-443C-1DD8-B11D910A48A4}"/>
              </a:ext>
            </a:extLst>
          </p:cNvPr>
          <p:cNvSpPr>
            <a:spLocks noGrp="1"/>
          </p:cNvSpPr>
          <p:nvPr>
            <p:ph idx="1"/>
          </p:nvPr>
        </p:nvSpPr>
        <p:spPr>
          <a:xfrm>
            <a:off x="457200" y="2362200"/>
            <a:ext cx="8229600" cy="3763963"/>
          </a:xfrm>
        </p:spPr>
        <p:txBody>
          <a:bodyPr>
            <a:normAutofit/>
          </a:bodyPr>
          <a:lstStyle/>
          <a:p>
            <a:pPr marL="0" indent="0" algn="ctr">
              <a:buNone/>
            </a:pPr>
            <a:r>
              <a:rPr lang="en-US" sz="9600"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4171270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814</TotalTime>
  <Words>609</Words>
  <Application>Microsoft Office PowerPoint</Application>
  <PresentationFormat>On-screen Show (4:3)</PresentationFormat>
  <Paragraphs>61</Paragraphs>
  <Slides>19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Times New Roman</vt:lpstr>
      <vt:lpstr>Wingdings</vt:lpstr>
      <vt:lpstr>Office Theme</vt:lpstr>
      <vt:lpstr>OBJECTIVE</vt:lpstr>
      <vt:lpstr>ABSTRACT</vt:lpstr>
      <vt:lpstr>LANGUAGE USE &amp; FRAMEWORK</vt:lpstr>
      <vt:lpstr>SYSTEM ARCHITECTURE</vt:lpstr>
      <vt:lpstr>MODULES DESCRIPTION</vt:lpstr>
      <vt:lpstr>PowerPoint Presentation</vt:lpstr>
      <vt:lpstr>2. Issue Reporting Module</vt:lpstr>
      <vt:lpstr> Database Management Module  </vt:lpstr>
      <vt:lpstr>Administrative &amp; Reporting Module </vt:lpstr>
      <vt:lpstr>User Interface Module</vt:lpstr>
      <vt:lpstr>PowerPoint Presentation</vt:lpstr>
      <vt:lpstr>PowerPoint Presentation</vt:lpstr>
      <vt:lpstr>PowerPoint Presentation</vt:lpstr>
      <vt:lpstr>PowerPoint Presentation</vt:lpstr>
      <vt:lpstr>PowerPoint Presentation</vt:lpstr>
      <vt:lpstr>PowerPoint Presentation</vt:lpstr>
      <vt:lpstr>Conclusion</vt:lpstr>
      <vt:lpstr>Future Enhancement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roopasreep2006@outlook.com</cp:lastModifiedBy>
  <cp:revision>19</cp:revision>
  <dcterms:created xsi:type="dcterms:W3CDTF">2026-02-16T11:21:24Z</dcterms:created>
  <dcterms:modified xsi:type="dcterms:W3CDTF">2026-05-06T07:17:35Z</dcterms:modified>
</cp:coreProperties>
</file>